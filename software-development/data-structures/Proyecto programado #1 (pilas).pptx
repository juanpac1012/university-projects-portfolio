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attanakarn Heavy" charset="1" panose="000000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Medium" charset="1" panose="00000000000000000000"/>
      <p:regular r:id="rId19"/>
    </p:embeddedFont>
    <p:embeddedFont>
      <p:font typeface="Pattanakarn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nlaredo.tecnm.mx/takeyas/Apuntes/Estructura%20de%20Datos/Apuntes/04-Pilas.pdf" TargetMode="External" Type="http://schemas.openxmlformats.org/officeDocument/2006/relationships/hyperlink"/><Relationship Id="rId5" Target="https://www.tutorchase.com/answers/ib/computer-science/how-do-dynamic-stacks-differ-from-static-stacks-in-memory-allocation" TargetMode="External" Type="http://schemas.openxmlformats.org/officeDocument/2006/relationships/hyperlink"/><Relationship Id="rId6" Target="https://www.youtube.com/watch?v=Pm9gx1AEn5M" TargetMode="External" Type="http://schemas.openxmlformats.org/officeDocument/2006/relationships/hyperlink"/><Relationship Id="rId7" Target="https://www.youtube.com/watch?v=b-cUY1_aj-s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14789" y="3978981"/>
            <a:ext cx="12058423" cy="169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6"/>
              </a:lnSpc>
              <a:spcBef>
                <a:spcPct val="0"/>
              </a:spcBef>
            </a:pPr>
            <a:r>
              <a:rPr lang="en-US" b="true" sz="9975">
                <a:solidFill>
                  <a:srgbClr val="FEFEFC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PILAS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2503" y="5853697"/>
            <a:ext cx="3762993" cy="1367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974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Juan Pablo Alvarado Carrillo </a:t>
            </a:r>
          </a:p>
          <a:p>
            <a:pPr algn="ctr">
              <a:lnSpc>
                <a:spcPts val="2764"/>
              </a:lnSpc>
            </a:pPr>
            <a:r>
              <a:rPr lang="en-US" sz="1974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Cesar Antonio Mora Umaña </a:t>
            </a:r>
          </a:p>
          <a:p>
            <a:pPr algn="ctr">
              <a:lnSpc>
                <a:spcPts val="2764"/>
              </a:lnSpc>
            </a:pPr>
            <a:r>
              <a:rPr lang="en-US" sz="1974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José Enrique Muñoz Vargas </a:t>
            </a:r>
          </a:p>
          <a:p>
            <a:pPr algn="ctr">
              <a:lnSpc>
                <a:spcPts val="276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3" id="3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25991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08815" y="828789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711" y="2819463"/>
            <a:ext cx="669763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CONCEPTO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52578" y="1946068"/>
            <a:ext cx="4972421" cy="4800965"/>
            <a:chOff x="0" y="0"/>
            <a:chExt cx="783531" cy="7565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531" cy="756514"/>
            </a:xfrm>
            <a:custGeom>
              <a:avLst/>
              <a:gdLst/>
              <a:ahLst/>
              <a:cxnLst/>
              <a:rect r="r" b="b" t="t" l="l"/>
              <a:pathLst>
                <a:path h="756514" w="783531">
                  <a:moveTo>
                    <a:pt x="35810" y="0"/>
                  </a:moveTo>
                  <a:lnTo>
                    <a:pt x="747721" y="0"/>
                  </a:lnTo>
                  <a:cubicBezTo>
                    <a:pt x="757219" y="0"/>
                    <a:pt x="766327" y="3773"/>
                    <a:pt x="773043" y="10489"/>
                  </a:cubicBezTo>
                  <a:cubicBezTo>
                    <a:pt x="779759" y="17204"/>
                    <a:pt x="783531" y="26313"/>
                    <a:pt x="783531" y="35810"/>
                  </a:cubicBezTo>
                  <a:lnTo>
                    <a:pt x="783531" y="720704"/>
                  </a:lnTo>
                  <a:cubicBezTo>
                    <a:pt x="783531" y="730201"/>
                    <a:pt x="779759" y="739310"/>
                    <a:pt x="773043" y="746026"/>
                  </a:cubicBezTo>
                  <a:cubicBezTo>
                    <a:pt x="766327" y="752741"/>
                    <a:pt x="757219" y="756514"/>
                    <a:pt x="747721" y="756514"/>
                  </a:cubicBezTo>
                  <a:lnTo>
                    <a:pt x="35810" y="756514"/>
                  </a:lnTo>
                  <a:cubicBezTo>
                    <a:pt x="26313" y="756514"/>
                    <a:pt x="17204" y="752741"/>
                    <a:pt x="10489" y="746026"/>
                  </a:cubicBezTo>
                  <a:cubicBezTo>
                    <a:pt x="3773" y="739310"/>
                    <a:pt x="0" y="730201"/>
                    <a:pt x="0" y="720704"/>
                  </a:cubicBezTo>
                  <a:lnTo>
                    <a:pt x="0" y="35810"/>
                  </a:lnTo>
                  <a:cubicBezTo>
                    <a:pt x="0" y="26313"/>
                    <a:pt x="3773" y="17204"/>
                    <a:pt x="10489" y="10489"/>
                  </a:cubicBezTo>
                  <a:cubicBezTo>
                    <a:pt x="17204" y="3773"/>
                    <a:pt x="26313" y="0"/>
                    <a:pt x="3581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337" r="0" b="-2033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905363" y="5790135"/>
            <a:ext cx="3611115" cy="4022717"/>
          </a:xfrm>
          <a:custGeom>
            <a:avLst/>
            <a:gdLst/>
            <a:ahLst/>
            <a:cxnLst/>
            <a:rect r="r" b="b" t="t" l="l"/>
            <a:pathLst>
              <a:path h="4022717" w="3611115">
                <a:moveTo>
                  <a:pt x="0" y="0"/>
                </a:moveTo>
                <a:lnTo>
                  <a:pt x="3611115" y="0"/>
                </a:lnTo>
                <a:lnTo>
                  <a:pt x="3611115" y="4022717"/>
                </a:lnTo>
                <a:lnTo>
                  <a:pt x="0" y="40227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32" t="0" r="-193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8688" y="4425641"/>
            <a:ext cx="7333013" cy="364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Es una estructura de datos lineal.</a:t>
            </a:r>
          </a:p>
          <a:p>
            <a:pPr algn="l">
              <a:lnSpc>
                <a:spcPts val="3639"/>
              </a:lnSpc>
            </a:pP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La inserción y eliminación de elementos ocurre solo en un extremo (cima o tope).</a:t>
            </a:r>
          </a:p>
          <a:p>
            <a:pPr algn="l">
              <a:lnSpc>
                <a:spcPts val="3639"/>
              </a:lnSpc>
            </a:pP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Sigue el principio LIFO 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0713" y="4954168"/>
            <a:ext cx="7739327" cy="4304132"/>
            <a:chOff x="0" y="0"/>
            <a:chExt cx="1257272" cy="6992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7272" cy="699217"/>
            </a:xfrm>
            <a:custGeom>
              <a:avLst/>
              <a:gdLst/>
              <a:ahLst/>
              <a:cxnLst/>
              <a:rect r="r" b="b" t="t" l="l"/>
              <a:pathLst>
                <a:path h="699217" w="1257272">
                  <a:moveTo>
                    <a:pt x="30010" y="0"/>
                  </a:moveTo>
                  <a:lnTo>
                    <a:pt x="1227262" y="0"/>
                  </a:lnTo>
                  <a:cubicBezTo>
                    <a:pt x="1243836" y="0"/>
                    <a:pt x="1257272" y="13436"/>
                    <a:pt x="1257272" y="30010"/>
                  </a:cubicBezTo>
                  <a:lnTo>
                    <a:pt x="1257272" y="669207"/>
                  </a:lnTo>
                  <a:cubicBezTo>
                    <a:pt x="1257272" y="677166"/>
                    <a:pt x="1254111" y="684799"/>
                    <a:pt x="1248483" y="690427"/>
                  </a:cubicBezTo>
                  <a:cubicBezTo>
                    <a:pt x="1242855" y="696055"/>
                    <a:pt x="1235221" y="699217"/>
                    <a:pt x="1227262" y="699217"/>
                  </a:cubicBezTo>
                  <a:lnTo>
                    <a:pt x="30010" y="699217"/>
                  </a:lnTo>
                  <a:cubicBezTo>
                    <a:pt x="22051" y="699217"/>
                    <a:pt x="14418" y="696055"/>
                    <a:pt x="8790" y="690427"/>
                  </a:cubicBezTo>
                  <a:cubicBezTo>
                    <a:pt x="3162" y="684799"/>
                    <a:pt x="0" y="677166"/>
                    <a:pt x="0" y="669207"/>
                  </a:cubicBezTo>
                  <a:lnTo>
                    <a:pt x="0" y="30010"/>
                  </a:lnTo>
                  <a:cubicBezTo>
                    <a:pt x="0" y="13436"/>
                    <a:pt x="13436" y="0"/>
                    <a:pt x="30010" y="0"/>
                  </a:cubicBezTo>
                  <a:close/>
                </a:path>
              </a:pathLst>
            </a:custGeom>
            <a:blipFill>
              <a:blip r:embed="rId4"/>
              <a:stretch>
                <a:fillRect l="-7630" t="0" r="-76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1738094"/>
            <a:ext cx="9144000" cy="294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</a:t>
            </a:r>
            <a:r>
              <a:rPr lang="en-US" sz="5600" b="true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REPRESENTACIÓN</a:t>
            </a:r>
          </a:p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GRÁFICA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1133677" y="4271738"/>
            <a:ext cx="5164645" cy="4986562"/>
            <a:chOff x="0" y="0"/>
            <a:chExt cx="783531" cy="7565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531" cy="756514"/>
            </a:xfrm>
            <a:custGeom>
              <a:avLst/>
              <a:gdLst/>
              <a:ahLst/>
              <a:cxnLst/>
              <a:rect r="r" b="b" t="t" l="l"/>
              <a:pathLst>
                <a:path h="756514" w="783531">
                  <a:moveTo>
                    <a:pt x="34478" y="0"/>
                  </a:moveTo>
                  <a:lnTo>
                    <a:pt x="749054" y="0"/>
                  </a:lnTo>
                  <a:cubicBezTo>
                    <a:pt x="758198" y="0"/>
                    <a:pt x="766967" y="3632"/>
                    <a:pt x="773433" y="10098"/>
                  </a:cubicBezTo>
                  <a:cubicBezTo>
                    <a:pt x="779899" y="16564"/>
                    <a:pt x="783531" y="25334"/>
                    <a:pt x="783531" y="34478"/>
                  </a:cubicBezTo>
                  <a:lnTo>
                    <a:pt x="783531" y="722037"/>
                  </a:lnTo>
                  <a:cubicBezTo>
                    <a:pt x="783531" y="731181"/>
                    <a:pt x="779899" y="739950"/>
                    <a:pt x="773433" y="746416"/>
                  </a:cubicBezTo>
                  <a:cubicBezTo>
                    <a:pt x="766967" y="752882"/>
                    <a:pt x="758198" y="756514"/>
                    <a:pt x="749054" y="756514"/>
                  </a:cubicBezTo>
                  <a:lnTo>
                    <a:pt x="34478" y="756514"/>
                  </a:lnTo>
                  <a:cubicBezTo>
                    <a:pt x="25334" y="756514"/>
                    <a:pt x="16564" y="752882"/>
                    <a:pt x="10098" y="746416"/>
                  </a:cubicBezTo>
                  <a:cubicBezTo>
                    <a:pt x="3632" y="739950"/>
                    <a:pt x="0" y="731181"/>
                    <a:pt x="0" y="722037"/>
                  </a:cubicBezTo>
                  <a:lnTo>
                    <a:pt x="0" y="34478"/>
                  </a:lnTo>
                  <a:cubicBezTo>
                    <a:pt x="0" y="25334"/>
                    <a:pt x="3632" y="16564"/>
                    <a:pt x="10098" y="10098"/>
                  </a:cubicBezTo>
                  <a:cubicBezTo>
                    <a:pt x="16564" y="3632"/>
                    <a:pt x="25334" y="0"/>
                    <a:pt x="3447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670" r="0" b="-467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1866391"/>
            <a:ext cx="91440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COMPORTAMIENTO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LIFO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644789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8" id="8"/>
          <p:cNvSpPr/>
          <p:nvPr/>
        </p:nvSpPr>
        <p:spPr>
          <a:xfrm>
            <a:off x="11277050" y="6282197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277050" y="4631435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277050" y="2582114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580333" y="956928"/>
            <a:ext cx="1228279" cy="1228279"/>
            <a:chOff x="0" y="0"/>
            <a:chExt cx="323497" cy="323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80333" y="2894599"/>
            <a:ext cx="1228279" cy="1228279"/>
            <a:chOff x="0" y="0"/>
            <a:chExt cx="323497" cy="323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80333" y="4727940"/>
            <a:ext cx="1228279" cy="1228279"/>
            <a:chOff x="0" y="0"/>
            <a:chExt cx="323497" cy="3234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80333" y="6573549"/>
            <a:ext cx="1228279" cy="1228279"/>
            <a:chOff x="0" y="0"/>
            <a:chExt cx="323497" cy="3234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7469" y="4274247"/>
            <a:ext cx="5478265" cy="5099686"/>
          </a:xfrm>
          <a:custGeom>
            <a:avLst/>
            <a:gdLst/>
            <a:ahLst/>
            <a:cxnLst/>
            <a:rect r="r" b="b" t="t" l="l"/>
            <a:pathLst>
              <a:path h="5099686" w="5478265">
                <a:moveTo>
                  <a:pt x="0" y="0"/>
                </a:moveTo>
                <a:lnTo>
                  <a:pt x="5478265" y="0"/>
                </a:lnTo>
                <a:lnTo>
                  <a:pt x="5478265" y="5099687"/>
                </a:lnTo>
                <a:lnTo>
                  <a:pt x="0" y="5099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9135" y="2099479"/>
            <a:ext cx="5914932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OPERACIONES DE PILAS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77050" y="1377130"/>
            <a:ext cx="598225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Inserta un elemento en la parte superior(cima) de la pila.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.push(valor);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77050" y="877806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Push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77050" y="3348417"/>
            <a:ext cx="598225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Extrae y elimina el elemento de la cima, que es el último en haber sido agregado.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.pop();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77050" y="2886641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77050" y="5313505"/>
            <a:ext cx="598225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Devuelve el elemento en la cima sin eliminarlo.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.top();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77050" y="4810743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77050" y="7054956"/>
            <a:ext cx="598225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Verifica si la pila no tiene elementos.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.empty();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77050" y="6495468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IsEmpty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88231" y="1326609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88231" y="3188080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88231" y="5086350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88231" y="6943230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580333" y="8411428"/>
            <a:ext cx="1228279" cy="1228279"/>
            <a:chOff x="0" y="0"/>
            <a:chExt cx="323497" cy="3234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277050" y="8384916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Size </a:t>
            </a:r>
          </a:p>
        </p:txBody>
      </p:sp>
      <p:sp>
        <p:nvSpPr>
          <p:cNvPr name="AutoShape 43" id="43"/>
          <p:cNvSpPr/>
          <p:nvPr/>
        </p:nvSpPr>
        <p:spPr>
          <a:xfrm>
            <a:off x="11277050" y="8127806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1277050" y="8979736"/>
            <a:ext cx="598225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Retorna el número actual de elementos en la pila. 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.size();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9788231" y="8763853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35977" y="4038683"/>
            <a:ext cx="8050217" cy="4639108"/>
          </a:xfrm>
          <a:custGeom>
            <a:avLst/>
            <a:gdLst/>
            <a:ahLst/>
            <a:cxnLst/>
            <a:rect r="r" b="b" t="t" l="l"/>
            <a:pathLst>
              <a:path h="4639108" w="8050217">
                <a:moveTo>
                  <a:pt x="0" y="0"/>
                </a:moveTo>
                <a:lnTo>
                  <a:pt x="8050218" y="0"/>
                </a:lnTo>
                <a:lnTo>
                  <a:pt x="8050218" y="4639108"/>
                </a:lnTo>
                <a:lnTo>
                  <a:pt x="0" y="463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462212"/>
            <a:ext cx="182880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PILAS 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ESTÁTICA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953" y="3644146"/>
            <a:ext cx="6107635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Basadas en arreglos 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Tamaño fijo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Memoria contigua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Limitación de espacio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Eficiencia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66252" y="5143500"/>
            <a:ext cx="5312900" cy="4012935"/>
          </a:xfrm>
          <a:custGeom>
            <a:avLst/>
            <a:gdLst/>
            <a:ahLst/>
            <a:cxnLst/>
            <a:rect r="r" b="b" t="t" l="l"/>
            <a:pathLst>
              <a:path h="4012935" w="5312900">
                <a:moveTo>
                  <a:pt x="0" y="0"/>
                </a:moveTo>
                <a:lnTo>
                  <a:pt x="5312900" y="0"/>
                </a:lnTo>
                <a:lnTo>
                  <a:pt x="5312900" y="4012935"/>
                </a:lnTo>
                <a:lnTo>
                  <a:pt x="0" y="4012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1083" y="4086770"/>
            <a:ext cx="6416580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Basadas en listas enlazadas  (nodos y punteros)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Tamaño variable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Memoria no contigua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Sin desbordamiento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499773"/>
            <a:ext cx="182880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PILAS 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DINÁMICA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6252" y="3825678"/>
            <a:ext cx="510530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¿Qué es un nodo?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¿Qué es un puntero?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3539480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8" y="0"/>
                </a:lnTo>
                <a:lnTo>
                  <a:pt x="11301258" y="5579996"/>
                </a:lnTo>
                <a:lnTo>
                  <a:pt x="0" y="5579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49958"/>
            <a:ext cx="18288000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PILAS 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DINÁMICA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42243" y="1619009"/>
            <a:ext cx="1220351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APLICACIONES DE LAS PILAS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68562" y="3187539"/>
            <a:ext cx="4750875" cy="2798861"/>
            <a:chOff x="0" y="0"/>
            <a:chExt cx="6334500" cy="373181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334500" cy="3731815"/>
              <a:chOff x="0" y="0"/>
              <a:chExt cx="646995" cy="38116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46995" cy="381161"/>
              </a:xfrm>
              <a:custGeom>
                <a:avLst/>
                <a:gdLst/>
                <a:ahLst/>
                <a:cxnLst/>
                <a:rect r="r" b="b" t="t" l="l"/>
                <a:pathLst>
                  <a:path h="381161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333917"/>
                    </a:lnTo>
                    <a:cubicBezTo>
                      <a:pt x="646995" y="346447"/>
                      <a:pt x="642017" y="358463"/>
                      <a:pt x="633157" y="367323"/>
                    </a:cubicBezTo>
                    <a:cubicBezTo>
                      <a:pt x="624297" y="376183"/>
                      <a:pt x="612280" y="381161"/>
                      <a:pt x="599750" y="381161"/>
                    </a:cubicBezTo>
                    <a:lnTo>
                      <a:pt x="47244" y="381161"/>
                    </a:lnTo>
                    <a:cubicBezTo>
                      <a:pt x="21152" y="381161"/>
                      <a:pt x="0" y="360009"/>
                      <a:pt x="0" y="333917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646995" cy="438311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304175"/>
              <a:ext cx="6334500" cy="1085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4"/>
                </a:lnSpc>
                <a:spcBef>
                  <a:spcPct val="0"/>
                </a:spcBef>
              </a:pPr>
              <a:r>
                <a:rPr lang="en-US" b="true" sz="2417">
                  <a:solidFill>
                    <a:srgbClr val="FEFEFC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Deshacer (undo) y rehacer (redo) en Aplicaciones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26261" y="3214754"/>
            <a:ext cx="4597359" cy="2708421"/>
            <a:chOff x="0" y="0"/>
            <a:chExt cx="6129813" cy="361122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129813" cy="3611228"/>
              <a:chOff x="0" y="0"/>
              <a:chExt cx="646995" cy="38116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46995" cy="381161"/>
              </a:xfrm>
              <a:custGeom>
                <a:avLst/>
                <a:gdLst/>
                <a:ahLst/>
                <a:cxnLst/>
                <a:rect r="r" b="b" t="t" l="l"/>
                <a:pathLst>
                  <a:path h="381161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333917"/>
                    </a:lnTo>
                    <a:cubicBezTo>
                      <a:pt x="646995" y="346447"/>
                      <a:pt x="642017" y="358463"/>
                      <a:pt x="633157" y="367323"/>
                    </a:cubicBezTo>
                    <a:cubicBezTo>
                      <a:pt x="624297" y="376183"/>
                      <a:pt x="612280" y="381161"/>
                      <a:pt x="599750" y="381161"/>
                    </a:cubicBezTo>
                    <a:lnTo>
                      <a:pt x="47244" y="381161"/>
                    </a:lnTo>
                    <a:cubicBezTo>
                      <a:pt x="21152" y="381161"/>
                      <a:pt x="0" y="360009"/>
                      <a:pt x="0" y="333917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646995" cy="438311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260802"/>
              <a:ext cx="6129813" cy="1051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4"/>
                </a:lnSpc>
                <a:spcBef>
                  <a:spcPct val="0"/>
                </a:spcBef>
              </a:pPr>
              <a:r>
                <a:rPr lang="en-US" b="true" sz="2339">
                  <a:solidFill>
                    <a:srgbClr val="FEFEFC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Control de ejecución de funciones recursivas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4531" y="3214754"/>
            <a:ext cx="4658484" cy="2744431"/>
            <a:chOff x="0" y="0"/>
            <a:chExt cx="6211312" cy="365924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211312" cy="3659241"/>
              <a:chOff x="0" y="0"/>
              <a:chExt cx="646995" cy="38116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46995" cy="381161"/>
              </a:xfrm>
              <a:custGeom>
                <a:avLst/>
                <a:gdLst/>
                <a:ahLst/>
                <a:cxnLst/>
                <a:rect r="r" b="b" t="t" l="l"/>
                <a:pathLst>
                  <a:path h="381161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333917"/>
                    </a:lnTo>
                    <a:cubicBezTo>
                      <a:pt x="646995" y="346447"/>
                      <a:pt x="642017" y="358463"/>
                      <a:pt x="633157" y="367323"/>
                    </a:cubicBezTo>
                    <a:cubicBezTo>
                      <a:pt x="624297" y="376183"/>
                      <a:pt x="612280" y="381161"/>
                      <a:pt x="599750" y="381161"/>
                    </a:cubicBezTo>
                    <a:lnTo>
                      <a:pt x="47244" y="381161"/>
                    </a:lnTo>
                    <a:cubicBezTo>
                      <a:pt x="21152" y="381161"/>
                      <a:pt x="0" y="360009"/>
                      <a:pt x="0" y="333917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646995" cy="438311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268547"/>
              <a:ext cx="6211312" cy="1074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>
                  <a:solidFill>
                    <a:srgbClr val="FEFEFC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Navegación en páginas web o aplicaciones móviles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260719" y="6883130"/>
            <a:ext cx="4300039" cy="2533262"/>
            <a:chOff x="0" y="0"/>
            <a:chExt cx="5733385" cy="337768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733385" cy="3377683"/>
              <a:chOff x="0" y="0"/>
              <a:chExt cx="646995" cy="3811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46995" cy="381161"/>
              </a:xfrm>
              <a:custGeom>
                <a:avLst/>
                <a:gdLst/>
                <a:ahLst/>
                <a:cxnLst/>
                <a:rect r="r" b="b" t="t" l="l"/>
                <a:pathLst>
                  <a:path h="381161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333917"/>
                    </a:lnTo>
                    <a:cubicBezTo>
                      <a:pt x="646995" y="346447"/>
                      <a:pt x="642017" y="358463"/>
                      <a:pt x="633157" y="367323"/>
                    </a:cubicBezTo>
                    <a:cubicBezTo>
                      <a:pt x="624297" y="376183"/>
                      <a:pt x="612280" y="381161"/>
                      <a:pt x="599750" y="381161"/>
                    </a:cubicBezTo>
                    <a:lnTo>
                      <a:pt x="47244" y="381161"/>
                    </a:lnTo>
                    <a:cubicBezTo>
                      <a:pt x="21152" y="381161"/>
                      <a:pt x="0" y="360009"/>
                      <a:pt x="0" y="333917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646995" cy="438311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176799"/>
              <a:ext cx="5733385" cy="985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3"/>
                </a:lnSpc>
                <a:spcBef>
                  <a:spcPct val="0"/>
                </a:spcBef>
              </a:pPr>
              <a:r>
                <a:rPr lang="en-US" b="true" sz="2187">
                  <a:solidFill>
                    <a:srgbClr val="FEFEFC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Aplicaciones en sistemas operativos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36475" y="6883130"/>
            <a:ext cx="4442090" cy="2616948"/>
            <a:chOff x="0" y="0"/>
            <a:chExt cx="5922786" cy="348926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922786" cy="3489264"/>
              <a:chOff x="0" y="0"/>
              <a:chExt cx="646995" cy="38116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46995" cy="381161"/>
              </a:xfrm>
              <a:custGeom>
                <a:avLst/>
                <a:gdLst/>
                <a:ahLst/>
                <a:cxnLst/>
                <a:rect r="r" b="b" t="t" l="l"/>
                <a:pathLst>
                  <a:path h="381161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333917"/>
                    </a:lnTo>
                    <a:cubicBezTo>
                      <a:pt x="646995" y="346447"/>
                      <a:pt x="642017" y="358463"/>
                      <a:pt x="633157" y="367323"/>
                    </a:cubicBezTo>
                    <a:cubicBezTo>
                      <a:pt x="624297" y="376183"/>
                      <a:pt x="612280" y="381161"/>
                      <a:pt x="599750" y="381161"/>
                    </a:cubicBezTo>
                    <a:lnTo>
                      <a:pt x="47244" y="381161"/>
                    </a:lnTo>
                    <a:cubicBezTo>
                      <a:pt x="21152" y="381161"/>
                      <a:pt x="0" y="360009"/>
                      <a:pt x="0" y="333917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646995" cy="438311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1216933"/>
              <a:ext cx="5922786" cy="1017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4"/>
                </a:lnSpc>
                <a:spcBef>
                  <a:spcPct val="0"/>
                </a:spcBef>
              </a:pPr>
              <a:r>
                <a:rPr lang="en-US" b="true" sz="2260">
                  <a:solidFill>
                    <a:srgbClr val="FEFEFC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Evaluación de expresiones algebraicas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4605020"/>
            <a:ext cx="182880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DEMOS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990600"/>
            <a:ext cx="269259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Estructura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53182" y="1432916"/>
            <a:ext cx="8781636" cy="121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  <a:spcBef>
                <a:spcPct val="0"/>
              </a:spcBef>
            </a:pPr>
            <a:r>
              <a:rPr lang="en-US" b="true" sz="7058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BIBLIOGRAFÍA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319842"/>
            <a:ext cx="18288000" cy="633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Cormen, T. H., Leiserson, C. E., Rivest, R. L., &amp; Stein, C. (2009). Introduction to algorithms (3rd ed.). MIT Press.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Goodrich, M. T., Tamassia, R., &amp; Goldwasser, M. H. (2022). Data structures and algorithms in Python (2nd ed.). Wiley.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Sedgewick, R., &amp; Wayne, K. (2011). Algorithms (4th ed.). Addison-Wesley.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Weiss, M. A. (2018). Data structures &amp; algorithm analysis in C++ (4th ed.). Pearson.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Tecnológico Nacional de México (s.f.). Estructura de datos: Apuntes sobre pilas. 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  <a:hlinkClick r:id="rId4" tooltip="https://nlaredo.tecnm.mx/takeyas/Apuntes/Estructura%20de%20Datos/Apuntes/04-Pilas.pdf"/>
              </a:rPr>
              <a:t>https://nlaredo.tecnm.mx/takeyas/Apuntes/Estructura%20de%20Datos/Apuntes/04-Pilas.pdf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Alfie. (S,f). How do dynamic stacks differ from static stacks in memory allocation?.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  <a:hlinkClick r:id="rId5" tooltip="https://www.tutorchase.com/answers/ib/computer-science/how-do-dynamic-stacks-differ-from-static-stacks-in-memory-allocation"/>
              </a:rPr>
              <a:t>https://www.tutorchase.com/answers/ib/computer-science/how-do-dynamic-stacks-differ-from-static-stacks-in-memory-allocation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CodeínaSoft. (2022, 25 de septiembre). Pila Estática en C++ [Video]. YouTube. 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  <a:hlinkClick r:id="rId6" tooltip="https://www.youtube.com/watch?v=Pm9gx1AEn5M"/>
              </a:rPr>
              <a:t>https://www.youtube.com/watch?v=Pm9gx1AEn5M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2789"/>
              </a:lnSpc>
            </a:pPr>
          </a:p>
          <a:p>
            <a:pPr algn="ctr">
              <a:lnSpc>
                <a:spcPts val="2789"/>
              </a:lnSpc>
            </a:pP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CodeínaSoft. (2022). Pila Dinámica en C++ [Video]. YouTube. 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youtube.com/watch?v=b-cUY1_aj-s"/>
              </a:rPr>
              <a:t>https://www.youtube.com/watch?v=b-cUY1_aj-s</a:t>
            </a:r>
            <a:r>
              <a:rPr lang="en-US" sz="1992">
                <a:solidFill>
                  <a:srgbClr val="FEFEF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27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97492"/>
            <a:ext cx="18288000" cy="591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 MANERA DE CONCLUSIÓN…</a:t>
            </a:r>
          </a:p>
          <a:p>
            <a:pPr algn="ctr">
              <a:lnSpc>
                <a:spcPts val="7840"/>
              </a:lnSpc>
            </a:pPr>
          </a:p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MUCHAS GRACIAS</a:t>
            </a:r>
          </a:p>
          <a:p>
            <a:pPr algn="ctr">
              <a:lnSpc>
                <a:spcPts val="7840"/>
              </a:lnSpc>
            </a:pPr>
          </a:p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FEFEFC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¿PREGUNTAS?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DAGgUWGjjAY</dc:identifier>
  <dcterms:modified xsi:type="dcterms:W3CDTF">2011-08-01T06:04:30Z</dcterms:modified>
  <cp:revision>1</cp:revision>
  <dc:title>Proyecto programado #1 (pilas)</dc:title>
</cp:coreProperties>
</file>